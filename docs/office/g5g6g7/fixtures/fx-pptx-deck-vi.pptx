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ề và nộ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972800" cy="1143000"/>
          </a:xfrm>
        </p:spPr>
        <p:txBody>
          <a:bodyPr/>
          <a:lstStyle/>
          <a:p>
            <a:r>
              <a:rPr lang="vi-VN"/>
              <a:t>Tiêu đề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52600"/>
            <a:ext cx="10972800" cy="4114800"/>
          </a:xfrm>
        </p:spPr>
        <p:txBody>
          <a:bodyPr/>
          <a:lstStyle/>
          <a:p>
            <a:r>
              <a:rPr lang="vi-VN"/>
              <a:t>Nội dung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600" b="1">
          <a:solidFill>
            <a:schemeClr val="tx1"/>
          </a:solidFill>
          <a:latin typeface="+mn-lt"/>
        </a:defRPr>
      </a:lvl1pPr>
    </p:titleStyle>
    <p:bodyStyle>
      <a:lvl1pPr algn="l">
        <a:defRPr sz="2400">
          <a:solidFill>
            <a:schemeClr val="tx1"/>
          </a:solidFill>
          <a:latin typeface="+mn-lt"/>
        </a:defRPr>
      </a:lvl1pPr>
    </p:bodyStyle>
    <p:otherStyle>
      <a:lvl1pPr algn="l"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972800" cy="1143000"/>
          </a:xfrm>
        </p:spPr>
        <p:txBody>
          <a:bodyPr/>
          <a:lstStyle/>
          <a:p>
            <a:r>
              <a:rPr lang="vi-VN" sz="4400" b="1" dirty="0"/>
              <a:t>Kết quả kinh doanh quý 1 năm 2026</a:t>
            </a:r>
          </a:p>
        </p:txBody>
      </p:sp>
      <p:sp>
        <p:nvSpPr>
          <p:cNvPr id="3" name="Nội dung 2"/>
          <p:cNvSpPr>
            <a:spLocks noGrp="1"/>
          </p:cNvSpPr>
          <p:nvPr>
            <p:ph type="body" idx="1"/>
          </p:nvPr>
        </p:nvSpPr>
        <p:spPr>
          <a:xfrm>
            <a:off x="609600" y="1752600"/>
            <a:ext cx="10972800" cy="4114800"/>
          </a:xfrm>
        </p:spPr>
        <p:txBody>
          <a:bodyPr/>
          <a:lstStyle/>
          <a:p>
            <a:pPr marL="0" indent="0">
              <a:buNone/>
            </a:pPr>
            <a:r>
              <a:rPr lang="vi-VN" sz="2400" dirty="0"/>
              <a:t>Bản trình bày tổng hợp từ dữ liệu mẫu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972800" cy="1143000"/>
          </a:xfrm>
        </p:spPr>
        <p:txBody>
          <a:bodyPr/>
          <a:lstStyle/>
          <a:p>
            <a:r>
              <a:rPr lang="vi-VN" sz="3600" b="1" dirty="0"/>
              <a:t>Điểm chính</a:t>
            </a:r>
          </a:p>
        </p:txBody>
      </p:sp>
      <p:sp>
        <p:nvSpPr>
          <p:cNvPr id="3" name="Nội dung 2"/>
          <p:cNvSpPr>
            <a:spLocks noGrp="1"/>
          </p:cNvSpPr>
          <p:nvPr>
            <p:ph type="body" idx="1"/>
          </p:nvPr>
        </p:nvSpPr>
        <p:spPr>
          <a:xfrm>
            <a:off x="609600" y="1752600"/>
            <a:ext cx="10972800" cy="4114800"/>
          </a:xfrm>
        </p:spPr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vi-VN" sz="2400" dirty="0"/>
              <a:t>Tổng doanh thu quý 1 đạt 22.060.000 đồng.</a:t>
            </a:r>
          </a:p>
          <a:p>
            <a:pPr marL="342900" indent="-342900">
              <a:buFont typeface="Arial"/>
              <a:buChar char="•"/>
            </a:pPr>
            <a:r>
              <a:rPr lang="vi-VN" sz="2400" dirty="0"/>
              <a:t>Khu vực Bắc đóng góp nhiều nhất, khu vực Trung ít nhất.</a:t>
            </a:r>
          </a:p>
          <a:p>
            <a:pPr marL="342900" indent="-342900">
              <a:buFont typeface="Arial"/>
              <a:buChar char="•"/>
            </a:pPr>
            <a:r>
              <a:rPr lang="vi-VN" sz="2400" dirty="0"/>
              <a:t>Cột giảm giá nhập theo hai cách cần được thống nhất.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972800" cy="1143000"/>
          </a:xfrm>
        </p:spPr>
        <p:txBody>
          <a:bodyPr/>
          <a:lstStyle/>
          <a:p>
            <a:r>
              <a:rPr lang="vi-VN" sz="3600" b="1" dirty="0"/>
              <a:t>Doanh thu theo khu vực</a:t>
            </a:r>
          </a:p>
        </p:txBody>
      </p:sp>
      <p:graphicFrame>
        <p:nvGraphicFramePr>
          <p:cNvPr id="3" name="Bảng doanh thu"/>
          <p:cNvGraphicFramePr>
            <a:graphicFrameLocks noGrp="1"/>
          </p:cNvGraphicFramePr>
          <p:nvPr/>
        </p:nvGraphicFramePr>
        <p:xfrm>
          <a:off x="609600" y="1752600"/>
          <a:ext cx="10972800" cy="2800000"/>
        </p:xfrm>
        <a:graphic>
          <a:graphicData uri="http://schemas.openxmlformats.org/drawingml/2006/table">
            <a:tbl>
              <a:tblPr firstRow="1" bandRow="1"/>
              <a:tblGrid>
                <a:gridCol w="3600000"/>
                <a:gridCol w="4400000"/>
                <a:gridCol w="2972800"/>
              </a:tblGrid>
              <a:tr h="560000">
                <a:tc>
                  <a:txBody>
                    <a:bodyPr/>
                    <a:lstStyle/>
                    <a:p>
                      <a:r>
                        <a:rPr lang="vi-VN" sz="1800" b="1" dirty="0"/>
                        <a:t>Khu vực</a:t>
                      </a:r>
                    </a:p>
                  </a:txBody>
                  <a:tcPr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800" b="1" dirty="0"/>
                        <a:t>Doanh thu Q1 (đồng)</a:t>
                      </a:r>
                    </a:p>
                  </a:txBody>
                  <a:tcPr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800" b="1" dirty="0"/>
                        <a:t>Tỷ trọng</a:t>
                      </a:r>
                    </a:p>
                  </a:txBody>
                  <a:tcPr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9E1F2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lang="vi-VN" sz="1800" dirty="0"/>
                        <a:t>Bắc</a:t>
                      </a:r>
                    </a:p>
                  </a:txBody>
                  <a:tcPr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vi-VN" sz="1800" dirty="0"/>
                        <a:t>9.060.000</a:t>
                      </a:r>
                    </a:p>
                  </a:txBody>
                  <a:tcPr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vi-VN" sz="1800" dirty="0"/>
                        <a:t>41,1%</a:t>
                      </a:r>
                    </a:p>
                  </a:txBody>
                  <a:tcPr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lang="vi-VN" sz="1800" dirty="0"/>
                        <a:t>Nam</a:t>
                      </a:r>
                    </a:p>
                  </a:txBody>
                  <a:tcPr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vi-VN" sz="1800" dirty="0"/>
                        <a:t>7.200.000</a:t>
                      </a:r>
                    </a:p>
                  </a:txBody>
                  <a:tcPr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vi-VN" sz="1800" dirty="0"/>
                        <a:t>32,6%</a:t>
                      </a:r>
                    </a:p>
                  </a:txBody>
                  <a:tcPr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lang="vi-VN" sz="1800" dirty="0"/>
                        <a:t>Trung</a:t>
                      </a:r>
                    </a:p>
                  </a:txBody>
                  <a:tcPr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vi-VN" sz="1800" dirty="0"/>
                        <a:t>5.800.000</a:t>
                      </a:r>
                    </a:p>
                  </a:txBody>
                  <a:tcPr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vi-VN" sz="1800" dirty="0"/>
                        <a:t>26,3%</a:t>
                      </a:r>
                    </a:p>
                  </a:txBody>
                  <a:tcPr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lang="vi-VN" sz="1800" b="1" dirty="0"/>
                        <a:t>Tổng cộng</a:t>
                      </a:r>
                    </a:p>
                  </a:txBody>
                  <a:tcPr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vi-VN" sz="1800" b="1" dirty="0"/>
                        <a:t>22.060.000</a:t>
                      </a:r>
                    </a:p>
                  </a:txBody>
                  <a:tcPr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vi-VN" sz="1800" b="1" dirty="0"/>
                        <a:t>100,0%</a:t>
                      </a:r>
                    </a:p>
                  </a:txBody>
                  <a:tcPr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UniWork fixture">
  <a:themeElements>
    <a:clrScheme name="UniWork">
      <a:dk1>
        <a:sysClr val="windowText" lastClr="000000"/>
      </a:dk1>
      <a:lt1>
        <a:sysClr val="window" lastClr="FFFFFF"/>
      </a:lt1>
      <a:dk2>
        <a:srgbClr val="1F2937"/>
      </a:dk2>
      <a:lt2>
        <a:srgbClr val="F3F4F6"/>
      </a:lt2>
      <a:accent1>
        <a:srgbClr val="2563EB"/>
      </a:accent1>
      <a:accent2>
        <a:srgbClr val="16A34A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Uni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niWor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UniWork fixture generator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Kết quả kinh doanh quý 1 năm 2026</dc:title>
  <dc:creator>UniWork synthetic fixtures</dc:creator>
  <cp:lastModifiedBy>UniWork synthetic fixtures</cp:lastModifiedBy>
  <dcterms:created xsi:type="dcterms:W3CDTF">2026-01-01T00:00:00Z</dcterms:created>
  <dcterms:modified xsi:type="dcterms:W3CDTF">2026-01-01T00:00:00Z</dcterms:modified>
</cp:coreProperties>
</file>